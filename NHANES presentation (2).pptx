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c201e038f_1_75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dc201e038f_1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c201e038f_1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201e038f_1_83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dc201e038f_1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c201e038f_1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c201e038f_1_91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dc201e038f_1_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c201e038f_1_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201e038f_1_107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dc201e038f_1_1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c201e038f_1_1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c201e038f_1_115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dc201e038f_1_1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c201e038f_1_1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c29afd547_1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dc29afd547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c29afd547_1_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dc29afd547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c29afd547_1_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dc29afd547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c29afd547_1_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dc29afd547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bd8a7c0d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dbd8a7c0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c29afd547_1_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dc29afd54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c29afd547_1_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dc29afd547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" name="Google Shape;134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8" name="Google Shape;15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" name="Google Shape;15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/>
          <p:nvPr/>
        </p:nvSpPr>
        <p:spPr>
          <a:xfrm>
            <a:off x="0" y="0"/>
            <a:ext cx="9144002" cy="301752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7"/>
          <p:cNvSpPr txBox="1"/>
          <p:nvPr/>
        </p:nvSpPr>
        <p:spPr>
          <a:xfrm>
            <a:off x="617374" y="480060"/>
            <a:ext cx="78888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Hospitalization Risk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Wearable Accelerometry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7" name="Google Shape;177;p37"/>
          <p:cNvSpPr txBox="1"/>
          <p:nvPr/>
        </p:nvSpPr>
        <p:spPr>
          <a:xfrm>
            <a:off x="617374" y="3291840"/>
            <a:ext cx="7888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Grayson Grabois</a:t>
            </a:r>
            <a:endParaRPr b="1" i="0" sz="1400" u="none" cap="none" strike="noStrike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Eddie Lin</a:t>
            </a:r>
            <a:endParaRPr b="1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8" name="Google Shape;178;p37"/>
          <p:cNvSpPr txBox="1"/>
          <p:nvPr/>
        </p:nvSpPr>
        <p:spPr>
          <a:xfrm>
            <a:off x="627599" y="1600585"/>
            <a:ext cx="78888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CDC NHANES DATA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37"/>
          <p:cNvSpPr txBox="1"/>
          <p:nvPr/>
        </p:nvSpPr>
        <p:spPr>
          <a:xfrm>
            <a:off x="539299" y="2185585"/>
            <a:ext cx="7888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/>
          <p:cNvSpPr/>
          <p:nvPr/>
        </p:nvSpPr>
        <p:spPr>
          <a:xfrm>
            <a:off x="0" y="0"/>
            <a:ext cx="9144002" cy="85725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8"/>
          <p:cNvSpPr txBox="1"/>
          <p:nvPr/>
        </p:nvSpPr>
        <p:spPr>
          <a:xfrm>
            <a:off x="308687" y="82296"/>
            <a:ext cx="8526627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the Data Comes From</a:t>
            </a:r>
            <a:endParaRPr sz="1100"/>
          </a:p>
        </p:txBody>
      </p:sp>
      <p:sp>
        <p:nvSpPr>
          <p:cNvPr id="187" name="Google Shape;187;p38"/>
          <p:cNvSpPr txBox="1"/>
          <p:nvPr/>
        </p:nvSpPr>
        <p:spPr>
          <a:xfrm>
            <a:off x="308687" y="994410"/>
            <a:ext cx="46647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NHANES 2005-2006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Health and Nutrition Examination Survey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by the CDC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designed to represent the U.S. population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 received a full physical health checkup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2005, they also gave out a hip-worn accelerometer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Worn for 7 consecutive days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ecords movement every minute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Accelerometer: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Motion intensity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hard the body was movin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count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Health Check-up: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BMI, blood pressure, waist circumference, age, sex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elf-reported: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hospitaliz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ations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past 12 months?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/>
          <p:nvPr/>
        </p:nvSpPr>
        <p:spPr>
          <a:xfrm>
            <a:off x="0" y="0"/>
            <a:ext cx="9144002" cy="85725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9"/>
          <p:cNvSpPr txBox="1"/>
          <p:nvPr/>
        </p:nvSpPr>
        <p:spPr>
          <a:xfrm>
            <a:off x="308687" y="82296"/>
            <a:ext cx="8526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About the Data</a:t>
            </a:r>
            <a:endParaRPr sz="1100"/>
          </a:p>
        </p:txBody>
      </p:sp>
      <p:sp>
        <p:nvSpPr>
          <p:cNvPr id="195" name="Google Shape;195;p39"/>
          <p:cNvSpPr txBox="1"/>
          <p:nvPr/>
        </p:nvSpPr>
        <p:spPr>
          <a:xfrm>
            <a:off x="308687" y="994410"/>
            <a:ext cx="4664700" cy="2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1,528 patients in our dataset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 range: 50 to 85 years old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15.7% were hospitalized in the past year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238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 age: 66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Weight: 81kg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Weekly Step Count: 49,180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Intensity: 332 (SD of 154)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BMI: 28.9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Systolic BP: 134 mmHG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(Average Patient has hypertension)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6" name="Google Shape;1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850" y="1966875"/>
            <a:ext cx="5175294" cy="3176624"/>
          </a:xfrm>
          <a:prstGeom prst="rect">
            <a:avLst/>
          </a:prstGeom>
          <a:solidFill>
            <a:srgbClr val="DBEAFE"/>
          </a:solidFill>
          <a:ln cap="flat" cmpd="sng" w="1905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197" name="Google Shape;197;p39"/>
          <p:cNvSpPr txBox="1"/>
          <p:nvPr/>
        </p:nvSpPr>
        <p:spPr>
          <a:xfrm>
            <a:off x="91900" y="37205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Clean/Filtered: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" name="Google Shape;198;p39"/>
          <p:cNvSpPr txBox="1"/>
          <p:nvPr/>
        </p:nvSpPr>
        <p:spPr>
          <a:xfrm>
            <a:off x="91900" y="407395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Patients with no intensity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Impossible Systolic BP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 NaN BMI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/>
          <p:nvPr/>
        </p:nvSpPr>
        <p:spPr>
          <a:xfrm>
            <a:off x="0" y="0"/>
            <a:ext cx="9144002" cy="85725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0"/>
          <p:cNvSpPr txBox="1"/>
          <p:nvPr/>
        </p:nvSpPr>
        <p:spPr>
          <a:xfrm>
            <a:off x="308687" y="82296"/>
            <a:ext cx="8526627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15 Million Rows to 1,528 Patients</a:t>
            </a:r>
            <a:endParaRPr sz="1100"/>
          </a:p>
        </p:txBody>
      </p:sp>
      <p:sp>
        <p:nvSpPr>
          <p:cNvPr id="206" name="Google Shape;206;p40"/>
          <p:cNvSpPr txBox="1"/>
          <p:nvPr/>
        </p:nvSpPr>
        <p:spPr>
          <a:xfrm>
            <a:off x="308687" y="994410"/>
            <a:ext cx="4664700" cy="28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data: one row per minute, per patient, across 7 days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15,383,678 rows  →  1,528 patients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Per-patient features were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aggregated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steps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summed across 7 days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active intensity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intensity only when active</a:t>
            </a:r>
            <a:endParaRPr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at 0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amount of time with no intensity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 with clinical data from 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NHANES checkup: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BMI, systolic blood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pressure, waist circumference,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age, se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 hospitalizations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970950" y="1564700"/>
            <a:ext cx="3415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2 Datasets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minute per patient (for time series)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health data with aggregated activity data (1 row per patient)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911" y="2934500"/>
            <a:ext cx="6346089" cy="2209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40"/>
          <p:cNvCxnSpPr>
            <a:stCxn id="207" idx="1"/>
          </p:cNvCxnSpPr>
          <p:nvPr/>
        </p:nvCxnSpPr>
        <p:spPr>
          <a:xfrm flipH="1">
            <a:off x="5398850" y="2249600"/>
            <a:ext cx="572100" cy="65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/>
          <p:nvPr/>
        </p:nvSpPr>
        <p:spPr>
          <a:xfrm>
            <a:off x="0" y="0"/>
            <a:ext cx="9144002" cy="85725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1"/>
          <p:cNvSpPr txBox="1"/>
          <p:nvPr/>
        </p:nvSpPr>
        <p:spPr>
          <a:xfrm>
            <a:off x="308687" y="82296"/>
            <a:ext cx="8526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Observation: </a:t>
            </a: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Hospitalized</a:t>
            </a: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vs. Non-</a:t>
            </a: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Hospitalized</a:t>
            </a:r>
            <a:endParaRPr sz="1500"/>
          </a:p>
        </p:txBody>
      </p:sp>
      <p:sp>
        <p:nvSpPr>
          <p:cNvPr id="217" name="Google Shape;217;p41"/>
          <p:cNvSpPr txBox="1"/>
          <p:nvPr/>
        </p:nvSpPr>
        <p:spPr>
          <a:xfrm>
            <a:off x="308675" y="947969"/>
            <a:ext cx="85266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Non-Hospitalized (in the past year) are generally more active </a:t>
            </a: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</a:t>
            </a: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hospitalized</a:t>
            </a: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patients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next steps are: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Figuring out how time of day and  other factors contribute to health and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hospitalizations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 to determine risk of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hospitalizations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based on these factors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Predicting Activity based on min by min tracking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0" y="2571750"/>
            <a:ext cx="9143998" cy="2304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2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2"/>
          <p:cNvSpPr txBox="1"/>
          <p:nvPr/>
        </p:nvSpPr>
        <p:spPr>
          <a:xfrm>
            <a:off x="310896" y="82296"/>
            <a:ext cx="8522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Finding</a:t>
            </a:r>
            <a:endParaRPr/>
          </a:p>
        </p:txBody>
      </p:sp>
      <p:sp>
        <p:nvSpPr>
          <p:cNvPr id="225" name="Google Shape;225;p42"/>
          <p:cNvSpPr txBox="1"/>
          <p:nvPr/>
        </p:nvSpPr>
        <p:spPr>
          <a:xfrm>
            <a:off x="310896" y="1005809"/>
            <a:ext cx="43890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Active patients were hospitalized at half the rate of inactive ones.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Hospitalized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51,800 avg steps/week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Hospitalized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36,500 avg steps/week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~15,000 step gap  —  p &lt; 0.0001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gap shows up in every metric: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Higher BMI  ·  More sedentary time  ·  Lower systolic BP in active group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15.7% of the dataset was hospitalized (238 / 1,516 patients)</a:t>
            </a:r>
            <a:endParaRPr/>
          </a:p>
        </p:txBody>
      </p:sp>
      <p:pic>
        <p:nvPicPr>
          <p:cNvPr id="226" name="Google Shape;226;p42"/>
          <p:cNvPicPr preferRelativeResize="0"/>
          <p:nvPr/>
        </p:nvPicPr>
        <p:blipFill rotWithShape="1">
          <a:blip r:embed="rId3">
            <a:alphaModFix/>
          </a:blip>
          <a:srcRect b="0" l="0" r="35392" t="0"/>
          <a:stretch/>
        </p:blipFill>
        <p:spPr>
          <a:xfrm>
            <a:off x="4572000" y="1363325"/>
            <a:ext cx="4658692" cy="31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3"/>
          <p:cNvSpPr txBox="1"/>
          <p:nvPr/>
        </p:nvSpPr>
        <p:spPr>
          <a:xfrm>
            <a:off x="310896" y="82296"/>
            <a:ext cx="8522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Tried to Quantify It</a:t>
            </a:r>
            <a:endParaRPr/>
          </a:p>
        </p:txBody>
      </p:sp>
      <p:sp>
        <p:nvSpPr>
          <p:cNvPr id="233" name="Google Shape;233;p43"/>
          <p:cNvSpPr txBox="1"/>
          <p:nvPr/>
        </p:nvSpPr>
        <p:spPr>
          <a:xfrm>
            <a:off x="0" y="966450"/>
            <a:ext cx="79758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Cox Proportional Hazards Model assigns a weight to each factor and asks: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much does each variable independently contribute to hospitalization risk?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 Inputs: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Total weekly steps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of time sedentary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Sleep proxy  (nighttime stillness)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Activity slope  (7-day trend)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4974" y="3021723"/>
            <a:ext cx="6745400" cy="212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3"/>
          <p:cNvSpPr txBox="1"/>
          <p:nvPr/>
        </p:nvSpPr>
        <p:spPr>
          <a:xfrm>
            <a:off x="5413375" y="1569300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Accuracy  —  C-index: 0.639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72A"/>
                </a:solidFill>
              </a:rPr>
              <a:t>0.50 = coin flip     0.65+ = clinically useful     1.0 = perfect</a:t>
            </a:r>
            <a:endParaRPr sz="12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72A"/>
                </a:solidFill>
              </a:rPr>
              <a:t>1,516 patients  ·  238 hospitalizations  </a:t>
            </a:r>
            <a:endParaRPr/>
          </a:p>
        </p:txBody>
      </p:sp>
      <p:sp>
        <p:nvSpPr>
          <p:cNvPr id="236" name="Google Shape;236;p43"/>
          <p:cNvSpPr txBox="1"/>
          <p:nvPr/>
        </p:nvSpPr>
        <p:spPr>
          <a:xfrm>
            <a:off x="0" y="3238500"/>
            <a:ext cx="28461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To test it, we paired every hospitalized patient with every non-hospitalized patient and found that it guessed the hospitilzed person right 63.9% of the time. </a:t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F172A"/>
                </a:solidFill>
              </a:rPr>
              <a:t>Gradient Boosting or Random Forest might perform better</a:t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4"/>
          <p:cNvSpPr txBox="1"/>
          <p:nvPr/>
        </p:nvSpPr>
        <p:spPr>
          <a:xfrm>
            <a:off x="310896" y="82296"/>
            <a:ext cx="8522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Actually Drives the Risk</a:t>
            </a:r>
            <a:endParaRPr/>
          </a:p>
        </p:txBody>
      </p:sp>
      <p:sp>
        <p:nvSpPr>
          <p:cNvPr id="243" name="Google Shape;243;p44"/>
          <p:cNvSpPr txBox="1"/>
          <p:nvPr/>
        </p:nvSpPr>
        <p:spPr>
          <a:xfrm>
            <a:off x="-41900" y="928113"/>
            <a:ext cx="44373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Sleep Proxy  —  HR = 0.104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single largest weight in the model.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unit increase cuts hospitalization hazard to 10% of baseline.</a:t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921" y="2120200"/>
            <a:ext cx="5631178" cy="3023299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245" name="Google Shape;245;p44"/>
          <p:cNvSpPr txBox="1"/>
          <p:nvPr/>
        </p:nvSpPr>
        <p:spPr>
          <a:xfrm>
            <a:off x="4395400" y="790475"/>
            <a:ext cx="4062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Total Steps  —  barely registers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Once sleep proxy and BMI are in the model, steps adds little.</a:t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44"/>
          <p:cNvSpPr txBox="1"/>
          <p:nvPr/>
        </p:nvSpPr>
        <p:spPr>
          <a:xfrm>
            <a:off x="0" y="29527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Activity Slope  —  p = 0.504  (no effect)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72A"/>
                </a:solidFill>
              </a:rPr>
              <a:t>7 days is not enough to detect a trend.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-41900" y="1786825"/>
            <a:ext cx="4790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BMI  —  p &lt; 0.0001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Most statistically reliable predictor.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Each BMI unit adds ~5.9% to hazard.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BMI 35 vs BMI 25 = roughly 1.8x the risk.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5"/>
          <p:cNvSpPr txBox="1"/>
          <p:nvPr/>
        </p:nvSpPr>
        <p:spPr>
          <a:xfrm>
            <a:off x="310896" y="82296"/>
            <a:ext cx="8522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 Who Are These Active People?</a:t>
            </a:r>
            <a:endParaRPr/>
          </a:p>
        </p:txBody>
      </p:sp>
      <p:sp>
        <p:nvSpPr>
          <p:cNvPr id="254" name="Google Shape;254;p45"/>
          <p:cNvSpPr txBox="1"/>
          <p:nvPr/>
        </p:nvSpPr>
        <p:spPr>
          <a:xfrm>
            <a:off x="-4" y="859521"/>
            <a:ext cx="4206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K-means clustering on health markers revealed two distinct groups,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a spectrum.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High-Activity Clusters  (69k – 80k steps/week)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8 – 8.5% hospitalization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Lower BMI  ·  Lower blood pressure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Low-Activity Clusters  (30k – 38k steps/week)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19 – 22% hospitalization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Higher BMI  ·  Higher blood pressure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45"/>
          <p:cNvPicPr preferRelativeResize="0"/>
          <p:nvPr/>
        </p:nvPicPr>
        <p:blipFill rotWithShape="1">
          <a:blip r:embed="rId3">
            <a:alphaModFix/>
          </a:blip>
          <a:srcRect b="0" l="0" r="0" t="15312"/>
          <a:stretch/>
        </p:blipFill>
        <p:spPr>
          <a:xfrm>
            <a:off x="3971085" y="3080500"/>
            <a:ext cx="4862017" cy="2063001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1E40A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256" name="Google Shape;256;p45"/>
          <p:cNvSpPr txBox="1"/>
          <p:nvPr/>
        </p:nvSpPr>
        <p:spPr>
          <a:xfrm>
            <a:off x="5064125" y="960125"/>
            <a:ext cx="30000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Active patients are not just people who walk more.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They have a different metabolic profile entirely.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This raises the question: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Does activity cause health, or does health enable activity?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8595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6"/>
          <p:cNvSpPr txBox="1"/>
          <p:nvPr/>
        </p:nvSpPr>
        <p:spPr>
          <a:xfrm>
            <a:off x="310896" y="82296"/>
            <a:ext cx="852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</a:rPr>
              <a:t>Some Final Findings</a:t>
            </a:r>
            <a:endParaRPr/>
          </a:p>
        </p:txBody>
      </p:sp>
      <p:sp>
        <p:nvSpPr>
          <p:cNvPr id="263" name="Google Shape;263;p46"/>
          <p:cNvSpPr txBox="1"/>
          <p:nvPr/>
        </p:nvSpPr>
        <p:spPr>
          <a:xfrm>
            <a:off x="-4" y="859521"/>
            <a:ext cx="4206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172A"/>
                </a:solidFill>
              </a:rPr>
              <a:t>Activity does not have a high affect on </a:t>
            </a:r>
            <a:r>
              <a:rPr b="1" lang="en" sz="1700">
                <a:solidFill>
                  <a:srgbClr val="0F172A"/>
                </a:solidFill>
              </a:rPr>
              <a:t>hospitalization</a:t>
            </a:r>
            <a:r>
              <a:rPr b="1" lang="en" sz="1700">
                <a:solidFill>
                  <a:srgbClr val="0F172A"/>
                </a:solidFill>
              </a:rPr>
              <a:t> risk or Hypertension</a:t>
            </a:r>
            <a:endParaRPr b="1" i="0" sz="1700" u="none" cap="none" strike="noStrike">
              <a:solidFill>
                <a:srgbClr val="0F172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64" name="Google Shape;26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0" y="1543250"/>
            <a:ext cx="2911801" cy="19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596" y="1780739"/>
            <a:ext cx="3348328" cy="15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6"/>
          <p:cNvSpPr txBox="1"/>
          <p:nvPr/>
        </p:nvSpPr>
        <p:spPr>
          <a:xfrm>
            <a:off x="4936550" y="859525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F172A"/>
                </a:solidFill>
              </a:rPr>
              <a:t>When you move is not as important as how much you move</a:t>
            </a:r>
            <a:endParaRPr b="1" sz="1700">
              <a:solidFill>
                <a:srgbClr val="0F172A"/>
              </a:solidFill>
            </a:endParaRPr>
          </a:p>
        </p:txBody>
      </p:sp>
      <p:pic>
        <p:nvPicPr>
          <p:cNvPr id="267" name="Google Shape;26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7800" y="3302925"/>
            <a:ext cx="2279700" cy="171664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6"/>
          <p:cNvSpPr txBox="1"/>
          <p:nvPr/>
        </p:nvSpPr>
        <p:spPr>
          <a:xfrm>
            <a:off x="563875" y="3826125"/>
            <a:ext cx="4916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33,404 means steps is the optimal threshold of catching </a:t>
            </a:r>
            <a:r>
              <a:rPr b="1" lang="en" sz="1300">
                <a:solidFill>
                  <a:srgbClr val="0F172A"/>
                </a:solidFill>
              </a:rPr>
              <a:t>hospitalized</a:t>
            </a:r>
            <a:r>
              <a:rPr b="1" lang="en" sz="1300">
                <a:solidFill>
                  <a:srgbClr val="0F172A"/>
                </a:solidFill>
              </a:rPr>
              <a:t> patients (54%) and preventing false negatives (28%). Staying above that per week might be </a:t>
            </a:r>
            <a:r>
              <a:rPr b="1" lang="en" sz="1300">
                <a:solidFill>
                  <a:srgbClr val="0F172A"/>
                </a:solidFill>
              </a:rPr>
              <a:t>recommended</a:t>
            </a:r>
            <a:r>
              <a:rPr b="1" lang="en" sz="1300">
                <a:solidFill>
                  <a:srgbClr val="0F172A"/>
                </a:solidFill>
              </a:rPr>
              <a:t> but there isn’t enough data to say that the threshold is statistically significant.</a:t>
            </a:r>
            <a:endParaRPr b="1" sz="13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7"/>
          <p:cNvSpPr txBox="1"/>
          <p:nvPr/>
        </p:nvSpPr>
        <p:spPr>
          <a:xfrm>
            <a:off x="310896" y="82296"/>
            <a:ext cx="8522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 Got Wrong</a:t>
            </a:r>
            <a:endParaRPr/>
          </a:p>
        </p:txBody>
      </p:sp>
      <p:sp>
        <p:nvSpPr>
          <p:cNvPr id="275" name="Google Shape;275;p47"/>
          <p:cNvSpPr txBox="1"/>
          <p:nvPr/>
        </p:nvSpPr>
        <p:spPr>
          <a:xfrm>
            <a:off x="310896" y="960121"/>
            <a:ext cx="42063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Reverse Causality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Hospitalized patients averaged 36,500 steps/week vs 51,800 for non-hospitalized.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But the accelerometer was worn </a:t>
            </a:r>
            <a:r>
              <a:rPr lang="en" sz="1300">
                <a:solidFill>
                  <a:srgbClr val="0F172A"/>
                </a:solidFill>
              </a:rPr>
              <a:t>after </a:t>
            </a: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hospitalizations.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Someone hospitalized for a chronic illness may walk less because they are already sick.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 activity could be a symptom, not a cause.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438" y="3079749"/>
            <a:ext cx="6164685" cy="19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7"/>
          <p:cNvSpPr txBox="1"/>
          <p:nvPr/>
        </p:nvSpPr>
        <p:spPr>
          <a:xfrm>
            <a:off x="4517200" y="767450"/>
            <a:ext cx="47148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Even so: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The step gap is 15,000/week and statistically airtight.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F172A"/>
                </a:solidFill>
              </a:rPr>
              <a:t>There is a signal. We just cannot prove its direction.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Other limits: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72A"/>
                </a:solidFill>
              </a:rPr>
              <a:t>C-index = 0.639  —  better than chance, not reliable enough to act 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F172A"/>
                </a:solidFill>
              </a:rPr>
              <a:t>One week of data  ·  Adults 50–85 only  ·  No heart rate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8"/>
          <p:cNvSpPr txBox="1"/>
          <p:nvPr/>
        </p:nvSpPr>
        <p:spPr>
          <a:xfrm>
            <a:off x="310896" y="82296"/>
            <a:ext cx="85222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Simulation</a:t>
            </a:r>
            <a:endParaRPr/>
          </a:p>
        </p:txBody>
      </p:sp>
      <p:sp>
        <p:nvSpPr>
          <p:cNvPr id="284" name="Google Shape;284;p48"/>
          <p:cNvSpPr txBox="1"/>
          <p:nvPr/>
        </p:nvSpPr>
        <p:spPr>
          <a:xfrm>
            <a:off x="310896" y="859521"/>
            <a:ext cx="4206300" cy="43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Built from the exact Cox model coefficients.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Inputs: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Morning, midday, and evening step rate (steps/hour)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Derives weekly steps, % sedentary time, and sleep proxy from inputs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Applies Cox coefficients to get relative risk vs median patient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Converts to Poisson probabilities of 0, 1, 2, 3+ hospitalizations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Estimated chance of hospitalization in the next year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Estimated systolic BP  (correlation-based, not Cox model)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C-index 0.639  —  approximate only, not a medical tool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